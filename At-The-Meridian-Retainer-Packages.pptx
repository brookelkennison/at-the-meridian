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Norwester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AT THE MERIDIAN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95728" y="274320"/>
            <a:ext cx="0" cy="182880"/>
          </a:xfrm>
          <a:prstGeom prst="line">
            <a:avLst/>
          </a:prstGeom>
          <a:noFill/>
          <a:ln w="12700">
            <a:solidFill>
              <a:srgbClr val="3C5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05456" y="246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SCALE. ENGINEERED TO LAST.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56032" cy="0"/>
          </a:xfrm>
          <a:prstGeom prst="line">
            <a:avLst/>
          </a:prstGeom>
          <a:noFill/>
          <a:ln w="19050">
            <a:solidFill>
              <a:srgbClr val="7DD3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C7CED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ONLINE GROWTH STUDIO · MONTHLY RETAINERS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993392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62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MONTHLY RETAINER </a:t>
            </a:r>
            <a:pPr indent="0" marL="0">
              <a:lnSpc>
                <a:spcPct val="92000"/>
              </a:lnSpc>
              <a:buNone/>
            </a:pPr>
            <a:r>
              <a:rPr lang="en-US" sz="6200" spc="50" kern="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PACKAGES.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$1M+ operators ready to grow with a dedicated digital partner.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MINIMUM · 90-DAY PERFORMANCE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ATTHEMERIDIAN.COM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AT THE MERIDIAN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95728" y="274320"/>
            <a:ext cx="0" cy="182880"/>
          </a:xfrm>
          <a:prstGeom prst="line">
            <a:avLst/>
          </a:prstGeom>
          <a:noFill/>
          <a:ln w="12700">
            <a:solidFill>
              <a:srgbClr val="3C5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05456" y="246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SCALE. ENGINEERED TO LAST.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0881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ENGAGEMENT TERMS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212080" cy="2788920"/>
          </a:xfrm>
          <a:prstGeom prst="roundRect">
            <a:avLst>
              <a:gd name="adj" fmla="val 3934"/>
            </a:avLst>
          </a:prstGeom>
          <a:solidFill>
            <a:srgbClr val="181C28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retainer clients receive </a:t>
            </a:r>
            <a:pPr indent="0" marL="0"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first-priority support</a:t>
            </a:r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same-business-day response.</a:t>
            </a:r>
            <a:endParaRPr lang="en-US" sz="11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Non-retainer clients: </a:t>
            </a:r>
            <a:pPr indent="0" marL="0">
              <a:spcAft>
                <a:spcPts val="12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$200/hour</a:t>
            </a:r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(2-hour minimum, no priority guarantee).</a:t>
            </a:r>
            <a:endParaRPr lang="en-US" sz="11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minimum</a:t>
            </a:r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commitment on all tiers.</a:t>
            </a:r>
            <a:endParaRPr lang="en-US" sz="11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performance review</a:t>
            </a:r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into every tier.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743200" cy="1298448"/>
          </a:xfrm>
          <a:prstGeom prst="roundRect">
            <a:avLst>
              <a:gd name="adj" fmla="val 8451"/>
            </a:avLst>
          </a:prstGeom>
          <a:solidFill>
            <a:srgbClr val="121826"/>
          </a:solidFill>
          <a:ln w="12700">
            <a:solidFill>
              <a:srgbClr val="3C5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856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10%</a:t>
            </a:r>
            <a:pPr indent="0" marL="0">
              <a:buNone/>
            </a:pPr>
            <a:r>
              <a:rPr lang="en-US" sz="1200" b="1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OFF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72200" y="2441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pay-in-full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182112"/>
            <a:ext cx="2743200" cy="1298448"/>
          </a:xfrm>
          <a:prstGeom prst="roundRect">
            <a:avLst>
              <a:gd name="adj" fmla="val 8451"/>
            </a:avLst>
          </a:prstGeom>
          <a:solidFill>
            <a:srgbClr val="121826"/>
          </a:solidFill>
          <a:ln w="12700">
            <a:solidFill>
              <a:srgbClr val="3C5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346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15%</a:t>
            </a:r>
            <a:pPr indent="0" marL="0">
              <a:buNone/>
            </a:pPr>
            <a:r>
              <a:rPr lang="en-US" sz="1200" b="1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OFF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pay-in-full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</a:rPr>
              <a:t>●  </a:t>
            </a:r>
            <a:pPr indent="0" marL="0">
              <a:buNone/>
            </a:pPr>
            <a:r>
              <a:rPr lang="en-US" sz="8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MERIDIAN — MONTHLY RETAINER PACKAGES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8412480" cy="4114800"/>
          </a:xfrm>
          <a:prstGeom prst="roundRect">
            <a:avLst>
              <a:gd name="adj" fmla="val 3111"/>
            </a:avLst>
          </a:prstGeom>
          <a:solidFill>
            <a:srgbClr val="121622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749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50" kern="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TIER 3  </a:t>
            </a:r>
            <a:pPr indent="0" marL="0">
              <a:buNone/>
            </a:pPr>
            <a:r>
              <a:rPr lang="en-US" sz="26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—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Tier 2, plus full paid media suite and advanced lead-gen systems.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30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$8,500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217920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Tier 2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15 hrs/month — features &amp; new pages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— high-intent search campaigns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Local Services Ads (LSA) management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— retargeting &amp; lookalike audiences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21031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new lead-gen landing page per month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lead gen — CRM, automation, scoring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Biweekly 60-min strategy calls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 — full ROI analysis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feature requests — front of queue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749808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782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 </a:t>
            </a:r>
            <a:pPr indent="0" marL="0">
              <a:buNone/>
            </a:pPr>
            <a:r>
              <a:rPr lang="en-US" sz="950" i="1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that want a full growth partner managing their entire digital presence.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VALUE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$102,000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 PIF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21792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$45,900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 PIF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40664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$86,700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</a:rPr>
              <a:t>●  </a:t>
            </a:r>
            <a:pPr indent="0" marL="0">
              <a:buNone/>
            </a:pPr>
            <a:r>
              <a:rPr lang="en-US" sz="8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MERIDIAN — MONTHLY RETAINER PACKAGES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8412480" cy="4114800"/>
          </a:xfrm>
          <a:prstGeom prst="roundRect">
            <a:avLst>
              <a:gd name="adj" fmla="val 3111"/>
            </a:avLst>
          </a:prstGeom>
          <a:solidFill>
            <a:srgbClr val="121622"/>
          </a:solidFill>
          <a:ln w="19050">
            <a:solidFill>
              <a:srgbClr val="7DD3F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269480" y="7132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/>
        </p:spPr>
      </p:sp>
      <p:sp>
        <p:nvSpPr>
          <p:cNvPr id="4" name="Text 2"/>
          <p:cNvSpPr/>
          <p:nvPr/>
        </p:nvSpPr>
        <p:spPr>
          <a:xfrm>
            <a:off x="7269480" y="713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A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50" kern="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TIER 2  </a:t>
            </a:r>
            <a:pPr indent="0" marL="0">
              <a:buNone/>
            </a:pPr>
            <a:r>
              <a:rPr lang="en-US" sz="26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— GROW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Tier 1, plus active growth strategy and paid social advertising.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30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$5,500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217920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Tier 1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 hrs/month of improvements &amp; features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SEO strategy — content, keywords, technical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SEO-optimized blog posts per month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Lead-gen strategy — funnel &amp; CRO, CTA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21031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 management (Facebook + Instagram)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billed to client ($750–$1,000/mo rec.)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Email/SMS automation buildouts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60-min strategy call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competitive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968496"/>
            <a:ext cx="749808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782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 </a:t>
            </a:r>
            <a:pPr indent="0" marL="0">
              <a:buNone/>
            </a:pPr>
            <a:r>
              <a:rPr lang="en-US" sz="950" i="1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ready to actively grow traffic, leads, and conversions through organic SEO and paid social.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VALUE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02920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$66,000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 PIF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21792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$29,700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0664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 PIF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0664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$56,100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</a:rPr>
              <a:t>●  </a:t>
            </a:r>
            <a:pPr indent="0" marL="0">
              <a:buNone/>
            </a:pPr>
            <a:r>
              <a:rPr lang="en-US" sz="8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MERIDIAN — MONTHLY RETAINER PACKAGES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22960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8412480" cy="4114800"/>
          </a:xfrm>
          <a:prstGeom prst="roundRect">
            <a:avLst>
              <a:gd name="adj" fmla="val 3111"/>
            </a:avLst>
          </a:prstGeom>
          <a:solidFill>
            <a:srgbClr val="121622"/>
          </a:solidFill>
          <a:ln w="12700">
            <a:solidFill>
              <a:srgbClr val="2A314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749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50" kern="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TIER 1  </a:t>
            </a:r>
            <a:pPr indent="0" marL="0">
              <a:buNone/>
            </a:pPr>
            <a:r>
              <a:rPr lang="en-US" sz="26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— MAINTAIN &amp; OPTIMIZE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foundation. Your site is live, protected, and steadily improving.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30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$3,500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217920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Hosting, SSL, backups, uptime monitoring &amp; security patches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dependency &amp; framework updates (Next.js, npm, CMS)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 hrs/month of website improvements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&amp; technical SEO maintenance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rank tracking with monthly report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21031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management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+ Search Console monitoring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report</a:t>
            </a:r>
            <a:endParaRPr lang="en-US" sz="1000" dirty="0"/>
          </a:p>
          <a:p>
            <a:pPr marL="177800" indent="-1778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First-priority support — same-business-day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749808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782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 </a:t>
            </a:r>
            <a:pPr indent="0" marL="0">
              <a:buNone/>
            </a:pPr>
            <a:r>
              <a:rPr lang="en-US" sz="950" i="1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with a strong site that need it maintained, protected, and steadily improved with foundational SEO.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VALUE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02920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$42,000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 PIF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21792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$18,900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4041648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10131C"/>
          </a:solidFill>
          <a:ln w="9525">
            <a:solidFill>
              <a:srgbClr val="3C5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10565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 PIF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406640" y="4261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$35,700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</a:rPr>
              <a:t>●  </a:t>
            </a:r>
            <a:pPr indent="0" marL="0">
              <a:buNone/>
            </a:pPr>
            <a:r>
              <a:rPr lang="en-US" sz="8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MERIDIAN — MONTHLY RETAINER PACKAGES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9728" cy="10972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AT THE MERIDIAN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95728" y="274320"/>
            <a:ext cx="0" cy="182880"/>
          </a:xfrm>
          <a:prstGeom prst="line">
            <a:avLst/>
          </a:prstGeom>
          <a:noFill/>
          <a:ln w="12700">
            <a:solidFill>
              <a:srgbClr val="3C5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05456" y="246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SCALE. ENGINEERED TO LAST.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0881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THE FINE PRINT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181C28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WHAT'S NOT INCLUDED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—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site redesigns or new builds (separate proposal)</a:t>
            </a:r>
            <a:endParaRPr lang="en-US" sz="1000" dirty="0"/>
          </a:p>
          <a:p>
            <a:pPr marL="203200" indent="-203200">
              <a:spcAft>
                <a:spcPts val="900"/>
              </a:spcAft>
              <a:buSzPct val="100000"/>
              <a:buChar char="—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writing beyond included blog posts</a:t>
            </a:r>
            <a:endParaRPr lang="en-US" sz="1000" dirty="0"/>
          </a:p>
          <a:p>
            <a:pPr marL="203200" indent="-203200">
              <a:spcAft>
                <a:spcPts val="900"/>
              </a:spcAft>
              <a:buSzPct val="100000"/>
              <a:buChar char="—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— billed to your own accounts (we manage, you own)</a:t>
            </a:r>
            <a:endParaRPr lang="en-US" sz="1000" dirty="0"/>
          </a:p>
          <a:p>
            <a:pPr marL="203200" indent="-203200">
              <a:spcAft>
                <a:spcPts val="900"/>
              </a:spcAft>
              <a:buSzPct val="100000"/>
              <a:buChar char="—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Photography, videography, or brand identity</a:t>
            </a:r>
            <a:endParaRPr lang="en-US" sz="1000" dirty="0"/>
          </a:p>
          <a:p>
            <a:pPr marL="203200" indent="-203200">
              <a:spcAft>
                <a:spcPts val="900"/>
              </a:spcAft>
              <a:buSzPct val="100000"/>
              <a:buChar char="—"/>
            </a:pPr>
            <a:r>
              <a:rPr lang="en-US" sz="10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software subscriptions (CRM, email tools)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181C28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THE VALUE 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611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developer + SEO specialist. One part-time dev alone costs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$5–8k/mo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strategist, ads manager + developer. Part-time those run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$8–12k/mo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full growth team for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one full-time hire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9525">
            <a:solidFill>
              <a:srgbClr val="2A3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D3FC"/>
                </a:solidFill>
              </a:rPr>
              <a:t>●  </a:t>
            </a:r>
            <a:pPr indent="0" marL="0">
              <a:buNone/>
            </a:pPr>
            <a:r>
              <a:rPr lang="en-US" sz="800" spc="150" kern="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MERIDIAN — MONTHLY RETAINER PACKAGES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2960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120" y="1508760"/>
            <a:ext cx="256032" cy="0"/>
          </a:xfrm>
          <a:prstGeom prst="line">
            <a:avLst/>
          </a:prstGeom>
          <a:noFill/>
          <a:ln w="19050">
            <a:solidFill>
              <a:srgbClr val="7DD3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93592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C7CED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READY TO GROW?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spc="50" kern="0" dirty="0">
                <a:solidFill>
                  <a:srgbClr val="F5F7FB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LET'S FIND YOUR </a:t>
            </a:r>
            <a:pPr algn="ctr" indent="0" marL="0">
              <a:buNone/>
            </a:pPr>
            <a:r>
              <a:rPr lang="en-US" sz="5200" spc="50" kern="0" dirty="0">
                <a:solidFill>
                  <a:srgbClr val="7DD3FC"/>
                </a:solidFill>
                <a:latin typeface="Norwester" pitchFamily="34" charset="0"/>
                <a:ea typeface="Norwester" pitchFamily="34" charset="-122"/>
                <a:cs typeface="Norwester" pitchFamily="34" charset="-120"/>
              </a:rPr>
              <a:t>TIER.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discovery call to find the right fit for your business.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338328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discovery call 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ATTHEMERIDIAN.COM/CONTACT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Retainer Packages</dc:title>
  <dc:subject>PptxGenJS Presentation</dc:subject>
  <dc:creator>At The Meridian</dc:creator>
  <cp:lastModifiedBy>At The Meridian</cp:lastModifiedBy>
  <cp:revision>1</cp:revision>
  <dcterms:created xsi:type="dcterms:W3CDTF">2026-06-04T11:56:20Z</dcterms:created>
  <dcterms:modified xsi:type="dcterms:W3CDTF">2026-06-04T11:56:20Z</dcterms:modified>
</cp:coreProperties>
</file>